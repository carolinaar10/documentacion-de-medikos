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>
        <p:scale>
          <a:sx n="75" d="100"/>
          <a:sy n="75" d="100"/>
        </p:scale>
        <p:origin x="1308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95E099-D37C-4D6B-A879-F0A8FEDA454F}" type="datetimeFigureOut">
              <a:rPr lang="es-MX" smtClean="0"/>
              <a:t>12/12/2025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E824BB-F27B-4182-9BF3-1A076C4864E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98304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E824BB-F27B-4182-9BF3-1A076C4864E2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22586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B35BA8-3EE6-C724-4860-040F73C41F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4582566-FE3F-5C23-9A4B-A3460EA89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7CBB451-63F2-146F-5557-E775C8F77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E3D68-6CFA-4EA7-80EB-7B8B01D7A537}" type="datetimeFigureOut">
              <a:rPr lang="es-MX" smtClean="0"/>
              <a:t>12/12/2025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2C8B9B2-A21A-6A71-C156-FF06C7853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91D4DF-D162-AC55-4C89-65C2CF420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7503E-85A0-4AB2-991C-E4F0182060C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47756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5120DB-13E8-C9E9-0B9C-158912255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63126B-1C2C-4D19-D254-C062F3918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D93FE8-9379-D8C5-5E72-103B16855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E3D68-6CFA-4EA7-80EB-7B8B01D7A537}" type="datetimeFigureOut">
              <a:rPr lang="es-MX" smtClean="0"/>
              <a:t>12/12/2025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4B354A-E688-3C2B-FA60-FDB2D89AD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E1DD1D-EBF3-ADEA-EC93-621F40771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7503E-85A0-4AB2-991C-E4F0182060C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47947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668B04-6489-4A81-0668-80768A246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B4B3FF3-D957-2D6A-E218-0AE8C6925B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14E7F33-0E89-2E8F-F63E-CC97C15BA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E3D68-6CFA-4EA7-80EB-7B8B01D7A537}" type="datetimeFigureOut">
              <a:rPr lang="es-MX" smtClean="0"/>
              <a:t>12/12/2025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7281D39-F37A-30A7-29B0-9AF787A85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9BE3E3-E840-7F36-236C-E0A5B8B50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7503E-85A0-4AB2-991C-E4F0182060C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87244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104A09-5F72-9977-A15B-65B5E528E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16D3B9-B146-0510-7142-8FC180F5D9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B70D2E8-37F1-B06E-431F-0FAE3F3A8B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9DC1709-F295-2BC7-F19D-755C793C4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E3D68-6CFA-4EA7-80EB-7B8B01D7A537}" type="datetimeFigureOut">
              <a:rPr lang="es-MX" smtClean="0"/>
              <a:t>12/12/2025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E048545-F79C-EFD1-9571-AEF2EC929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DEFFA4A-F7EA-F1BD-8126-23270330C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7503E-85A0-4AB2-991C-E4F0182060C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71830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C3691E-FD9C-6435-93D6-09C9FC229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A43CAB1-C4F9-7477-F324-E4FFAF7A85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D66AA14-140B-2A7E-71A9-BD3B3E3D1A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E8C2505-8775-71DE-A27C-A635B088EC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5C780E1-960D-84FA-AF9F-8CABFC64F4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99F1756-F376-9453-EC31-385882D1D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E3D68-6CFA-4EA7-80EB-7B8B01D7A537}" type="datetimeFigureOut">
              <a:rPr lang="es-MX" smtClean="0"/>
              <a:t>12/12/2025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0C8CBDE-A5BA-E3D6-574D-F5D9E1C42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4ECF5A6-37D6-0791-3EF8-22AEFD8B6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7503E-85A0-4AB2-991C-E4F0182060C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18256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526899-97CC-9028-B274-9E106A58D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C6F8DD3-FE23-0E4D-D324-884CC1A98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E3D68-6CFA-4EA7-80EB-7B8B01D7A537}" type="datetimeFigureOut">
              <a:rPr lang="es-MX" smtClean="0"/>
              <a:t>12/12/2025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9916641-B07F-0012-98F1-95E49E48F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5A58586-2987-2898-61F2-50C71419E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7503E-85A0-4AB2-991C-E4F0182060C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90919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2BB9779-26DE-491E-AAF8-6C8627F80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E3D68-6CFA-4EA7-80EB-7B8B01D7A537}" type="datetimeFigureOut">
              <a:rPr lang="es-MX" smtClean="0"/>
              <a:t>12/12/2025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57E6D36-989B-E848-BEAF-894EC0A63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3DC1785-DDD0-DF3D-27F0-9C4C6D460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7503E-85A0-4AB2-991C-E4F0182060C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25502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C4E948-55EB-5231-4C95-58E84B303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D86A336-1D99-549D-DDB4-2BB2DF79BE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C8FAB5F-FAD9-5509-1069-9E00BFB3E8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FB1CF93-4EB6-9EF2-FA7B-9E50861F0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E3D68-6CFA-4EA7-80EB-7B8B01D7A537}" type="datetimeFigureOut">
              <a:rPr lang="es-MX" smtClean="0"/>
              <a:t>12/12/2025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4F7D342-9BEF-923B-34C6-83B3DDD74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A92CF28-2A6D-9820-CE07-3685359A9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7503E-85A0-4AB2-991C-E4F0182060C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44109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D66AFF-6236-0F74-205D-5B1A0D1E5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C1F5084-D449-BEA7-0BBB-E5E2D583B8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6140D52-27C1-EC42-4A2E-2CD76DE367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5EDCE0E-4543-25B2-69D0-DEDC2D354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E3D68-6CFA-4EA7-80EB-7B8B01D7A537}" type="datetimeFigureOut">
              <a:rPr lang="es-MX" smtClean="0"/>
              <a:t>12/12/2025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04F98F4-DF42-F2DE-440C-B224B6FFA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83D5E27-418F-30FD-4C61-9250935DE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7503E-85A0-4AB2-991C-E4F0182060C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85272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22B054-85DF-3B69-08F0-12F290F7D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7EEB313-DCB4-B47E-9E8A-18A27DDF3F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B12C2A0-3920-27E6-1938-F47B88925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E3D68-6CFA-4EA7-80EB-7B8B01D7A537}" type="datetimeFigureOut">
              <a:rPr lang="es-MX" smtClean="0"/>
              <a:t>12/12/2025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79557D-7BE9-AC57-87A5-B0E59DF71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C6DFF6-6068-107D-4628-B5BA4DAC9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7503E-85A0-4AB2-991C-E4F0182060C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62791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2B41737-F4C9-31BC-2BB1-DACB7E4808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2A4A585-0B15-1CDC-B052-7B4E14BAE2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B051AC-9482-245A-7308-7DEE14B60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E3D68-6CFA-4EA7-80EB-7B8B01D7A537}" type="datetimeFigureOut">
              <a:rPr lang="es-MX" smtClean="0"/>
              <a:t>12/12/2025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7ED32F-D1FE-D88B-A09C-A811EE788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EC2ED7-188D-7BB5-3833-50F3D44F9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7503E-85A0-4AB2-991C-E4F0182060C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37137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F0DF0BE-BA0A-CE42-1254-FA856523C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D2F6DE8-292C-715E-ECA3-704E33739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B3856A-88CE-971C-FA5C-39D5C6257C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E3D68-6CFA-4EA7-80EB-7B8B01D7A537}" type="datetimeFigureOut">
              <a:rPr lang="es-MX" smtClean="0"/>
              <a:t>12/12/2025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85D208-D30B-5487-0526-5EC3052CF0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71B9B9-5D5E-B3CC-7E9C-951515E09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47503E-85A0-4AB2-991C-E4F0182060C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05548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2B3F8FE6-FB57-1C78-F760-2D242EFC55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1864" y="1"/>
            <a:ext cx="4848224" cy="68580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AD51940-9A63-D817-6156-6617033841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9832" y="1922832"/>
            <a:ext cx="3012335" cy="301233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Box 3">
            <a:extLst>
              <a:ext uri="{FF2B5EF4-FFF2-40B4-BE49-F238E27FC236}">
                <a16:creationId xmlns:a16="http://schemas.microsoft.com/office/drawing/2014/main" id="{C00B2367-65CD-0407-15BC-AD929EC967B2}"/>
              </a:ext>
            </a:extLst>
          </p:cNvPr>
          <p:cNvSpPr txBox="1"/>
          <p:nvPr/>
        </p:nvSpPr>
        <p:spPr>
          <a:xfrm>
            <a:off x="1888067" y="5589270"/>
            <a:ext cx="9022022" cy="169164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MX" sz="3600" b="1" dirty="0"/>
              <a:t>Plataforma Integral de Gestión Hospitalaria</a:t>
            </a:r>
            <a:r>
              <a:rPr lang="es-MX" sz="3600" b="1" kern="100" dirty="0">
                <a:solidFill>
                  <a:srgbClr val="26262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s-MX" sz="28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987687F-681D-B8C3-6847-839FA1E7F086}"/>
              </a:ext>
            </a:extLst>
          </p:cNvPr>
          <p:cNvSpPr txBox="1"/>
          <p:nvPr/>
        </p:nvSpPr>
        <p:spPr>
          <a:xfrm>
            <a:off x="435129" y="24410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Universidad Tecnológica de Xicotepec de Juárez</a:t>
            </a:r>
            <a:br>
              <a:rPr lang="es-MX" dirty="0"/>
            </a:br>
            <a:r>
              <a:rPr lang="es-MX" dirty="0"/>
              <a:t>12 de diciembre de 2025</a:t>
            </a:r>
          </a:p>
        </p:txBody>
      </p:sp>
      <p:sp>
        <p:nvSpPr>
          <p:cNvPr id="11" name="Isosceles Triangle 5">
            <a:extLst>
              <a:ext uri="{FF2B5EF4-FFF2-40B4-BE49-F238E27FC236}">
                <a16:creationId xmlns:a16="http://schemas.microsoft.com/office/drawing/2014/main" id="{450701BE-D482-D57D-FEA1-D142BB945AFB}"/>
              </a:ext>
            </a:extLst>
          </p:cNvPr>
          <p:cNvSpPr/>
          <p:nvPr/>
        </p:nvSpPr>
        <p:spPr>
          <a:xfrm>
            <a:off x="11912" y="5589270"/>
            <a:ext cx="1471930" cy="1268730"/>
          </a:xfrm>
          <a:prstGeom prst="triangle">
            <a:avLst>
              <a:gd name="adj" fmla="val 0"/>
            </a:avLst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93991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2B4A3F2-A6D1-2526-9067-8ED363C97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071" y="0"/>
            <a:ext cx="109038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537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A069D8AB-2C05-9CAF-1ED8-E7A1E5F23D5E}"/>
              </a:ext>
            </a:extLst>
          </p:cNvPr>
          <p:cNvSpPr txBox="1"/>
          <p:nvPr/>
        </p:nvSpPr>
        <p:spPr>
          <a:xfrm>
            <a:off x="719666" y="1351508"/>
            <a:ext cx="1075266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sz="2400" dirty="0"/>
              <a:t>El sistema de salud requiere herramientas digitales confiables y estables para manejar información médica sensible.</a:t>
            </a:r>
          </a:p>
          <a:p>
            <a:pPr>
              <a:buNone/>
            </a:pPr>
            <a:endParaRPr lang="es-MX" sz="2400" dirty="0"/>
          </a:p>
          <a:p>
            <a:pPr>
              <a:buNone/>
            </a:pPr>
            <a:r>
              <a:rPr lang="es-MX" sz="2400" b="1" dirty="0"/>
              <a:t>Problemas principales:</a:t>
            </a:r>
            <a:endParaRPr lang="es-MX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Riesgo en la confiabilidad y seguridad de datos clínicos.</a:t>
            </a:r>
          </a:p>
          <a:p>
            <a:endParaRPr lang="es-MX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Cumplimiento inconsistente de estándares de calidad.</a:t>
            </a:r>
          </a:p>
          <a:p>
            <a:endParaRPr lang="es-MX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Problemas de rendimiento bajo carga.</a:t>
            </a:r>
          </a:p>
          <a:p>
            <a:endParaRPr lang="es-MX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Dificultad en la gestión de actualizaciones sin romper funcionalidades existentes.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EC3D6F0-D975-201B-583B-B3ADA918043D}"/>
              </a:ext>
            </a:extLst>
          </p:cNvPr>
          <p:cNvSpPr txBox="1"/>
          <p:nvPr/>
        </p:nvSpPr>
        <p:spPr>
          <a:xfrm>
            <a:off x="719666" y="543468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b="1" dirty="0"/>
              <a:t>Descripción del Problema</a:t>
            </a:r>
          </a:p>
        </p:txBody>
      </p:sp>
    </p:spTree>
    <p:extLst>
      <p:ext uri="{BB962C8B-B14F-4D97-AF65-F5344CB8AC3E}">
        <p14:creationId xmlns:p14="http://schemas.microsoft.com/office/powerpoint/2010/main" val="3253724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E7478D5-9F62-609A-3665-8BBB0CE406CD}"/>
              </a:ext>
            </a:extLst>
          </p:cNvPr>
          <p:cNvSpPr txBox="1"/>
          <p:nvPr/>
        </p:nvSpPr>
        <p:spPr>
          <a:xfrm>
            <a:off x="719666" y="543468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b="1" dirty="0"/>
              <a:t>Definición del Proyecto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0091E73-DE1B-5DAA-0FAB-9A28F3E8D98B}"/>
              </a:ext>
            </a:extLst>
          </p:cNvPr>
          <p:cNvSpPr txBox="1"/>
          <p:nvPr/>
        </p:nvSpPr>
        <p:spPr>
          <a:xfrm>
            <a:off x="719666" y="1720840"/>
            <a:ext cx="1075266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 err="1"/>
              <a:t>MedikOS</a:t>
            </a:r>
            <a:r>
              <a:rPr lang="es-MX" sz="2400" b="1" dirty="0"/>
              <a:t> es una plataforma médica diseñada para:</a:t>
            </a:r>
          </a:p>
          <a:p>
            <a:endParaRPr lang="es-MX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Gestión de citas y agenda electrónica.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Administración de expedientes clínicos digitales.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Comunicación entre médicos y pacientes.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Control de inventarios médicos.</a:t>
            </a:r>
          </a:p>
        </p:txBody>
      </p:sp>
    </p:spTree>
    <p:extLst>
      <p:ext uri="{BB962C8B-B14F-4D97-AF65-F5344CB8AC3E}">
        <p14:creationId xmlns:p14="http://schemas.microsoft.com/office/powerpoint/2010/main" val="2855893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8044AF-0BCD-DEC1-5DF3-5A885BF73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F7CD4B5-1B48-D259-1599-8A3208FA22B3}"/>
              </a:ext>
            </a:extLst>
          </p:cNvPr>
          <p:cNvSpPr txBox="1"/>
          <p:nvPr/>
        </p:nvSpPr>
        <p:spPr>
          <a:xfrm>
            <a:off x="719666" y="543468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b="1" dirty="0"/>
              <a:t>Justificación de Viabilidad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603B70C-2CF5-07B8-9482-69E223837869}"/>
              </a:ext>
            </a:extLst>
          </p:cNvPr>
          <p:cNvSpPr txBox="1"/>
          <p:nvPr/>
        </p:nvSpPr>
        <p:spPr>
          <a:xfrm>
            <a:off x="719666" y="1720840"/>
            <a:ext cx="565573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/>
              <a:t>Viabilidad Técnica</a:t>
            </a:r>
          </a:p>
          <a:p>
            <a:endParaRPr lang="es-MX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Equipo capacitado en Python, JavaScript, </a:t>
            </a:r>
            <a:r>
              <a:rPr lang="es-MX" sz="2400" dirty="0" err="1"/>
              <a:t>FastAPI</a:t>
            </a:r>
            <a:r>
              <a:rPr lang="es-MX" sz="2400" dirty="0"/>
              <a:t>, </a:t>
            </a:r>
            <a:r>
              <a:rPr lang="es-MX" sz="2400" dirty="0" err="1"/>
              <a:t>Vue</a:t>
            </a:r>
            <a:r>
              <a:rPr lang="es-MX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Uso de tecnologías de código abierto.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Arquitectura modular, escalable y mantenible.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Recursos disponibles para colaboración y pruebas.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0210C18-1115-47B9-2FEF-C4458A3470FA}"/>
              </a:ext>
            </a:extLst>
          </p:cNvPr>
          <p:cNvSpPr txBox="1"/>
          <p:nvPr/>
        </p:nvSpPr>
        <p:spPr>
          <a:xfrm>
            <a:off x="6629400" y="1720840"/>
            <a:ext cx="5461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/>
              <a:t>Viabilidad Económica</a:t>
            </a:r>
          </a:p>
          <a:p>
            <a:endParaRPr lang="es-MX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Inversión inicial moderada.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Costos operativos accesibles.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Modelo SaaS con ingresos recurrentes.</a:t>
            </a:r>
          </a:p>
        </p:txBody>
      </p:sp>
    </p:spTree>
    <p:extLst>
      <p:ext uri="{BB962C8B-B14F-4D97-AF65-F5344CB8AC3E}">
        <p14:creationId xmlns:p14="http://schemas.microsoft.com/office/powerpoint/2010/main" val="245151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58D73-069D-8922-387D-637322DDC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CC62239-FF54-CACD-D7AF-7DA3077B3E89}"/>
              </a:ext>
            </a:extLst>
          </p:cNvPr>
          <p:cNvSpPr txBox="1"/>
          <p:nvPr/>
        </p:nvSpPr>
        <p:spPr>
          <a:xfrm>
            <a:off x="719666" y="543468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b="1" dirty="0"/>
              <a:t>Costos Iniciales y Operativos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04F6352-DAC0-ABEB-B4FC-A24C61980E01}"/>
              </a:ext>
            </a:extLst>
          </p:cNvPr>
          <p:cNvSpPr txBox="1"/>
          <p:nvPr/>
        </p:nvSpPr>
        <p:spPr>
          <a:xfrm>
            <a:off x="719666" y="1720840"/>
            <a:ext cx="1075266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/>
              <a:t>Costos Iniciales:</a:t>
            </a:r>
          </a:p>
          <a:p>
            <a:r>
              <a:rPr lang="es-MX" sz="2400" dirty="0"/>
              <a:t>Desarrollo, diseño, pruebas, servidores, capacitación.</a:t>
            </a:r>
          </a:p>
          <a:p>
            <a:r>
              <a:rPr lang="es-MX" sz="2400" dirty="0"/>
              <a:t>Rango: </a:t>
            </a:r>
            <a:r>
              <a:rPr lang="es-MX" sz="2400" b="1" dirty="0"/>
              <a:t>$100,000 a $150,000 MXN</a:t>
            </a:r>
          </a:p>
          <a:p>
            <a:endParaRPr lang="es-MX" sz="2400" dirty="0"/>
          </a:p>
          <a:p>
            <a:r>
              <a:rPr lang="es-MX" sz="2400" b="1" dirty="0"/>
              <a:t>Costos Operativos del Primer Año:</a:t>
            </a:r>
          </a:p>
          <a:p>
            <a:r>
              <a:rPr lang="es-MX" sz="2400" dirty="0"/>
              <a:t>Mantenimiento, soporte, actualizaciones, almacenamiento.</a:t>
            </a:r>
          </a:p>
          <a:p>
            <a:r>
              <a:rPr lang="es-MX" sz="2400" dirty="0"/>
              <a:t>Rango: </a:t>
            </a:r>
            <a:r>
              <a:rPr lang="es-MX" sz="2400" b="1" dirty="0"/>
              <a:t>$80,000 a $120,000 MXN</a:t>
            </a:r>
            <a:endParaRPr lang="es-MX" sz="2400" dirty="0"/>
          </a:p>
        </p:txBody>
      </p:sp>
    </p:spTree>
    <p:extLst>
      <p:ext uri="{BB962C8B-B14F-4D97-AF65-F5344CB8AC3E}">
        <p14:creationId xmlns:p14="http://schemas.microsoft.com/office/powerpoint/2010/main" val="2795108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F810A8-3DB2-E07F-CD8F-B391B872D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9969DB6-5A55-F029-F3E7-42586B23F008}"/>
              </a:ext>
            </a:extLst>
          </p:cNvPr>
          <p:cNvSpPr txBox="1"/>
          <p:nvPr/>
        </p:nvSpPr>
        <p:spPr>
          <a:xfrm>
            <a:off x="719666" y="1351508"/>
            <a:ext cx="1075266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/>
              <a:t>Tipo:</a:t>
            </a:r>
            <a:r>
              <a:rPr lang="es-MX" sz="2400" dirty="0"/>
              <a:t> SaaS (Software como Servicio)</a:t>
            </a:r>
          </a:p>
          <a:p>
            <a:endParaRPr lang="es-MX" sz="2400" dirty="0"/>
          </a:p>
          <a:p>
            <a:r>
              <a:rPr lang="es-MX" sz="2400" b="1" dirty="0"/>
              <a:t>Fuentes de ingresos:</a:t>
            </a:r>
            <a:endParaRPr lang="es-MX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Suscripción mensual.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Cobro por volumen de datos.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Servicios adicionales (capacitación, soporte extendido, módulos premium).</a:t>
            </a:r>
          </a:p>
          <a:p>
            <a:endParaRPr lang="es-MX" sz="2400" dirty="0"/>
          </a:p>
          <a:p>
            <a:r>
              <a:rPr lang="es-MX" sz="2400" b="1" dirty="0"/>
              <a:t>Sostenibilidad:</a:t>
            </a:r>
            <a:br>
              <a:rPr lang="es-MX" sz="2400" dirty="0"/>
            </a:br>
            <a:r>
              <a:rPr lang="es-MX" sz="2400" dirty="0"/>
              <a:t>Operación de bajo costo + ingresos recurrentes = crecimiento asegurado.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1DC17EC-49CF-CDBB-23D0-A38D280DC112}"/>
              </a:ext>
            </a:extLst>
          </p:cNvPr>
          <p:cNvSpPr txBox="1"/>
          <p:nvPr/>
        </p:nvSpPr>
        <p:spPr>
          <a:xfrm>
            <a:off x="719666" y="543468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b="1" dirty="0"/>
              <a:t>Modelo de Financiamiento</a:t>
            </a:r>
          </a:p>
        </p:txBody>
      </p:sp>
    </p:spTree>
    <p:extLst>
      <p:ext uri="{BB962C8B-B14F-4D97-AF65-F5344CB8AC3E}">
        <p14:creationId xmlns:p14="http://schemas.microsoft.com/office/powerpoint/2010/main" val="1247405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170838-AC17-80A7-E67E-E8BFC7BA4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8B142E9-6AC4-C5AF-8CE5-505434947E4B}"/>
              </a:ext>
            </a:extLst>
          </p:cNvPr>
          <p:cNvSpPr txBox="1"/>
          <p:nvPr/>
        </p:nvSpPr>
        <p:spPr>
          <a:xfrm>
            <a:off x="719665" y="543468"/>
            <a:ext cx="74506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b="1" dirty="0"/>
              <a:t>Conclusión de Viabilidad Económica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309F5D1-16F7-3162-4C77-D7620930CADD}"/>
              </a:ext>
            </a:extLst>
          </p:cNvPr>
          <p:cNvSpPr txBox="1"/>
          <p:nvPr/>
        </p:nvSpPr>
        <p:spPr>
          <a:xfrm>
            <a:off x="719665" y="2459504"/>
            <a:ext cx="1075266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Punto de equilibrio alcanzable en menos de 1 año.</a:t>
            </a:r>
          </a:p>
          <a:p>
            <a:endParaRPr lang="es-MX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Se requieren solo entre </a:t>
            </a:r>
            <a:r>
              <a:rPr lang="es-MX" sz="2400" b="1" dirty="0"/>
              <a:t>10 y 15 instituciones medianas</a:t>
            </a:r>
            <a:r>
              <a:rPr lang="es-MX" sz="2400" dirty="0"/>
              <a:t> para generar utilidades.</a:t>
            </a:r>
          </a:p>
          <a:p>
            <a:endParaRPr lang="es-MX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Modelo rentable y escalable sin incrementos altos en infraestructura.</a:t>
            </a:r>
          </a:p>
        </p:txBody>
      </p:sp>
    </p:spTree>
    <p:extLst>
      <p:ext uri="{BB962C8B-B14F-4D97-AF65-F5344CB8AC3E}">
        <p14:creationId xmlns:p14="http://schemas.microsoft.com/office/powerpoint/2010/main" val="1749240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D2932F-FE6A-5456-5AFD-183F24F5F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DF0CD253-7D12-697A-F05D-57853E40D7BC}"/>
              </a:ext>
            </a:extLst>
          </p:cNvPr>
          <p:cNvSpPr txBox="1"/>
          <p:nvPr/>
        </p:nvSpPr>
        <p:spPr>
          <a:xfrm>
            <a:off x="719665" y="543468"/>
            <a:ext cx="74506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b="1" dirty="0"/>
              <a:t>Comparación con Alternativas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4EEFA3F-E267-37CA-4B39-5EFBE615D0FA}"/>
              </a:ext>
            </a:extLst>
          </p:cNvPr>
          <p:cNvSpPr txBox="1"/>
          <p:nvPr/>
        </p:nvSpPr>
        <p:spPr>
          <a:xfrm>
            <a:off x="719665" y="1351508"/>
            <a:ext cx="1075266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/>
              <a:t>Sistemas tradicionales</a:t>
            </a:r>
          </a:p>
          <a:p>
            <a:r>
              <a:rPr lang="es-MX" sz="2400" dirty="0"/>
              <a:t>Baratos, fáciles de instalar </a:t>
            </a:r>
            <a:br>
              <a:rPr lang="es-MX" sz="2400" dirty="0"/>
            </a:br>
            <a:r>
              <a:rPr lang="es-MX" sz="2400" dirty="0"/>
              <a:t>– Obsoletos, no escalables, sin seguridad moderna</a:t>
            </a:r>
          </a:p>
          <a:p>
            <a:endParaRPr lang="es-MX" sz="2400" dirty="0"/>
          </a:p>
          <a:p>
            <a:r>
              <a:rPr lang="es-MX" sz="2400" b="1" dirty="0"/>
              <a:t>Soluciones Internacionales</a:t>
            </a:r>
          </a:p>
          <a:p>
            <a:r>
              <a:rPr lang="es-MX" sz="2400" dirty="0"/>
              <a:t>Muy completas </a:t>
            </a:r>
            <a:br>
              <a:rPr lang="es-MX" sz="2400" dirty="0"/>
            </a:br>
            <a:r>
              <a:rPr lang="es-MX" sz="2400" dirty="0"/>
              <a:t>– Costos elevados, no adaptadas a normativas mexicanas</a:t>
            </a:r>
          </a:p>
          <a:p>
            <a:endParaRPr lang="es-MX" sz="2400" dirty="0"/>
          </a:p>
          <a:p>
            <a:r>
              <a:rPr lang="es-MX" sz="2400" b="1" dirty="0" err="1"/>
              <a:t>MedikOS</a:t>
            </a:r>
            <a:endParaRPr lang="es-MX" sz="2400" b="1" dirty="0"/>
          </a:p>
          <a:p>
            <a:r>
              <a:rPr lang="es-MX" sz="2400" dirty="0"/>
              <a:t>Cumple normativa nacional, adaptable, seguro, accesible</a:t>
            </a:r>
          </a:p>
          <a:p>
            <a:r>
              <a:rPr lang="es-MX" sz="2400" dirty="0"/>
              <a:t>Escalable y diseñado para la realidad local.</a:t>
            </a:r>
          </a:p>
        </p:txBody>
      </p:sp>
    </p:spTree>
    <p:extLst>
      <p:ext uri="{BB962C8B-B14F-4D97-AF65-F5344CB8AC3E}">
        <p14:creationId xmlns:p14="http://schemas.microsoft.com/office/powerpoint/2010/main" val="41033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E09C07-7DD5-5B36-0F26-0F5AC3672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D79DA21F-D3DA-0C78-53DA-E7ABB9FE0B05}"/>
              </a:ext>
            </a:extLst>
          </p:cNvPr>
          <p:cNvSpPr txBox="1"/>
          <p:nvPr/>
        </p:nvSpPr>
        <p:spPr>
          <a:xfrm>
            <a:off x="719665" y="543468"/>
            <a:ext cx="74506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b="1" dirty="0"/>
              <a:t>Propuesta de Valor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61CEC7D-4A74-B5FE-E419-7051BAB3AC02}"/>
              </a:ext>
            </a:extLst>
          </p:cNvPr>
          <p:cNvSpPr txBox="1"/>
          <p:nvPr/>
        </p:nvSpPr>
        <p:spPr>
          <a:xfrm>
            <a:off x="719665" y="1351508"/>
            <a:ext cx="1075266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/>
              <a:t>Propuesta Central:</a:t>
            </a:r>
            <a:br>
              <a:rPr lang="es-MX" sz="2400" dirty="0"/>
            </a:br>
            <a:r>
              <a:rPr lang="es-MX" sz="2400" dirty="0"/>
              <a:t>“Transformar hospitales y clínicas en entornos digitales eficientes, seguros y centrados en el paciente”.</a:t>
            </a:r>
          </a:p>
          <a:p>
            <a:endParaRPr lang="es-MX" sz="2400" dirty="0"/>
          </a:p>
          <a:p>
            <a:r>
              <a:rPr lang="es-MX" sz="2400" b="1" dirty="0"/>
              <a:t>Beneficios clave: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Reducción de errores administrativos.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Acceso a expedientes inmediatos.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Mejor eficiencia del médico personal.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Menor costo operativo.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Cumplimiento normativo y protección de datos.</a:t>
            </a:r>
          </a:p>
        </p:txBody>
      </p:sp>
    </p:spTree>
    <p:extLst>
      <p:ext uri="{BB962C8B-B14F-4D97-AF65-F5344CB8AC3E}">
        <p14:creationId xmlns:p14="http://schemas.microsoft.com/office/powerpoint/2010/main" val="3308417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0DCCDB-4344-4DB7-9B9E-8B240AF98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C122038A-044E-3FD0-A13B-04F3D74968D1}"/>
              </a:ext>
            </a:extLst>
          </p:cNvPr>
          <p:cNvSpPr txBox="1"/>
          <p:nvPr/>
        </p:nvSpPr>
        <p:spPr>
          <a:xfrm>
            <a:off x="719665" y="543468"/>
            <a:ext cx="74506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b="1" dirty="0"/>
              <a:t>Análisis de Impacto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E382B20-F493-7295-7091-8834C971FD0D}"/>
              </a:ext>
            </a:extLst>
          </p:cNvPr>
          <p:cNvSpPr txBox="1"/>
          <p:nvPr/>
        </p:nvSpPr>
        <p:spPr>
          <a:xfrm>
            <a:off x="719665" y="1351508"/>
            <a:ext cx="10752667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/>
              <a:t>Impacto Social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Mejora la atención médica.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Reducir los tiempos de espera.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Conecta comunidades a servicios digitales</a:t>
            </a:r>
          </a:p>
          <a:p>
            <a:r>
              <a:rPr lang="es-MX" sz="2400" dirty="0"/>
              <a:t>.</a:t>
            </a:r>
          </a:p>
          <a:p>
            <a:r>
              <a:rPr lang="es-MX" sz="2400" b="1" dirty="0"/>
              <a:t>Impacto Económico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Reducir costos operativos.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Minimiza errores costosos.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Optimiza recursos hospitalarios.</a:t>
            </a:r>
          </a:p>
          <a:p>
            <a:endParaRPr lang="es-MX" sz="2400" dirty="0"/>
          </a:p>
          <a:p>
            <a:r>
              <a:rPr lang="es-MX" sz="2400" b="1" dirty="0"/>
              <a:t>Impacto Ético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Protección reforzada de datos sensibles.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Transparencia y trazabilidad.</a:t>
            </a:r>
          </a:p>
        </p:txBody>
      </p:sp>
    </p:spTree>
    <p:extLst>
      <p:ext uri="{BB962C8B-B14F-4D97-AF65-F5344CB8AC3E}">
        <p14:creationId xmlns:p14="http://schemas.microsoft.com/office/powerpoint/2010/main" val="1474915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9718FC-B389-E3B2-EB96-5E47B387F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46A337A6-024C-83CB-56F9-FD0DECCC8298}"/>
              </a:ext>
            </a:extLst>
          </p:cNvPr>
          <p:cNvSpPr txBox="1"/>
          <p:nvPr/>
        </p:nvSpPr>
        <p:spPr>
          <a:xfrm>
            <a:off x="719665" y="543468"/>
            <a:ext cx="74506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b="1" dirty="0"/>
              <a:t>Arquitectura de Despliegue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60CE5CB-C7CA-816B-743D-A881759CE27F}"/>
              </a:ext>
            </a:extLst>
          </p:cNvPr>
          <p:cNvSpPr txBox="1"/>
          <p:nvPr/>
        </p:nvSpPr>
        <p:spPr>
          <a:xfrm>
            <a:off x="719665" y="1351507"/>
            <a:ext cx="552026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 err="1"/>
              <a:t>MedikOS</a:t>
            </a:r>
            <a:r>
              <a:rPr lang="es-MX" sz="2400" b="1" dirty="0"/>
              <a:t> utiliza un enfoque DevOps profesional:</a:t>
            </a:r>
            <a:endParaRPr lang="es-MX" sz="2400" dirty="0"/>
          </a:p>
          <a:p>
            <a:r>
              <a:rPr lang="es-MX" sz="2400" b="1" dirty="0"/>
              <a:t>CI/CD de canalización</a:t>
            </a:r>
          </a:p>
          <a:p>
            <a:endParaRPr lang="es-MX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Compilación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Pruebas automáticas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Empaquetado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Despliegue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Notificación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D302F98-FB12-2739-02AD-2F9CF6E7876E}"/>
              </a:ext>
            </a:extLst>
          </p:cNvPr>
          <p:cNvSpPr txBox="1"/>
          <p:nvPr/>
        </p:nvSpPr>
        <p:spPr>
          <a:xfrm>
            <a:off x="6096000" y="1351507"/>
            <a:ext cx="552026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/>
              <a:t>Entornos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Desarrollo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Puesta en escena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Producción</a:t>
            </a:r>
          </a:p>
          <a:p>
            <a:endParaRPr lang="es-MX" sz="2400" dirty="0"/>
          </a:p>
          <a:p>
            <a:r>
              <a:rPr lang="es-MX" sz="2400" b="1" dirty="0"/>
              <a:t>Infraestructura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Docker, acciones de GitHub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Python + </a:t>
            </a:r>
            <a:r>
              <a:rPr lang="es-MX" sz="2400" dirty="0" err="1"/>
              <a:t>FastAPI</a:t>
            </a:r>
            <a:endParaRPr lang="es-MX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Vista 3</a:t>
            </a:r>
          </a:p>
        </p:txBody>
      </p:sp>
    </p:spTree>
    <p:extLst>
      <p:ext uri="{BB962C8B-B14F-4D97-AF65-F5344CB8AC3E}">
        <p14:creationId xmlns:p14="http://schemas.microsoft.com/office/powerpoint/2010/main" val="30933781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955131-648E-CCB0-CAF3-E6CE258C8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6D2D9305-D257-9D98-952C-3286DD173466}"/>
              </a:ext>
            </a:extLst>
          </p:cNvPr>
          <p:cNvSpPr txBox="1"/>
          <p:nvPr/>
        </p:nvSpPr>
        <p:spPr>
          <a:xfrm>
            <a:off x="719665" y="543468"/>
            <a:ext cx="74506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b="1" dirty="0"/>
              <a:t>Requerimientos Técnicos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234F33D-B5BA-76A0-B9DA-ED3CEE0C0726}"/>
              </a:ext>
            </a:extLst>
          </p:cNvPr>
          <p:cNvSpPr txBox="1"/>
          <p:nvPr/>
        </p:nvSpPr>
        <p:spPr>
          <a:xfrm>
            <a:off x="719665" y="1351508"/>
            <a:ext cx="1075266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/>
              <a:t>Mínimo de hardware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CPU de 4 a 6 núcleos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RAM 8–16 GB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SSD de 256 a 512 GB</a:t>
            </a:r>
          </a:p>
          <a:p>
            <a:endParaRPr lang="es-MX" sz="2400" b="1" dirty="0"/>
          </a:p>
          <a:p>
            <a:r>
              <a:rPr lang="es-MX" sz="2400" b="1" dirty="0"/>
              <a:t>Software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Python 3.11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API rápida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Nodo/Vista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Docker + Docker </a:t>
            </a:r>
            <a:r>
              <a:rPr lang="es-MX" sz="2400" dirty="0" err="1"/>
              <a:t>Compose</a:t>
            </a:r>
            <a:endParaRPr lang="es-MX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 err="1"/>
              <a:t>PyTest</a:t>
            </a:r>
            <a:r>
              <a:rPr lang="es-MX" sz="2400" dirty="0"/>
              <a:t>, </a:t>
            </a:r>
            <a:r>
              <a:rPr lang="es-MX" sz="2400" dirty="0" err="1"/>
              <a:t>Jest</a:t>
            </a:r>
            <a:r>
              <a:rPr lang="es-MX" sz="2400" dirty="0"/>
              <a:t>, </a:t>
            </a:r>
            <a:r>
              <a:rPr lang="es-MX" sz="2400" dirty="0" err="1"/>
              <a:t>Cypress</a:t>
            </a:r>
            <a:endParaRPr lang="es-MX" sz="2400" dirty="0"/>
          </a:p>
        </p:txBody>
      </p:sp>
    </p:spTree>
    <p:extLst>
      <p:ext uri="{BB962C8B-B14F-4D97-AF65-F5344CB8AC3E}">
        <p14:creationId xmlns:p14="http://schemas.microsoft.com/office/powerpoint/2010/main" val="469803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55605F-00C3-FA23-89EC-6BF07E63A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7C813B91-02BA-C081-EC5F-33236524045D}"/>
              </a:ext>
            </a:extLst>
          </p:cNvPr>
          <p:cNvSpPr txBox="1"/>
          <p:nvPr/>
        </p:nvSpPr>
        <p:spPr>
          <a:xfrm>
            <a:off x="719665" y="543468"/>
            <a:ext cx="74506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b="1" dirty="0"/>
              <a:t>Niveles de Servicio (SLA/SLO)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A2D2834-C011-5720-B530-3961A4C1CC2E}"/>
              </a:ext>
            </a:extLst>
          </p:cNvPr>
          <p:cNvSpPr txBox="1"/>
          <p:nvPr/>
        </p:nvSpPr>
        <p:spPr>
          <a:xfrm>
            <a:off x="719665" y="1351508"/>
            <a:ext cx="1075266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/>
              <a:t>Disponibilidad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≥ 99%</a:t>
            </a:r>
          </a:p>
          <a:p>
            <a:endParaRPr lang="es-MX" sz="2400" dirty="0"/>
          </a:p>
          <a:p>
            <a:r>
              <a:rPr lang="es-MX" sz="2400" b="1" dirty="0"/>
              <a:t>Rendimiento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Puntos finales críticos p95 ≤ 500 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Bajo carga p95 ≤ 800 ms</a:t>
            </a:r>
          </a:p>
          <a:p>
            <a:endParaRPr lang="es-MX" sz="2400" dirty="0"/>
          </a:p>
          <a:p>
            <a:r>
              <a:rPr lang="es-MX" sz="2400" b="1" dirty="0"/>
              <a:t>Errores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Respuestas 5xx ≤ 1% tolerancia</a:t>
            </a:r>
          </a:p>
          <a:p>
            <a:endParaRPr lang="es-MX" sz="2400" dirty="0"/>
          </a:p>
          <a:p>
            <a:r>
              <a:rPr lang="es-MX" sz="2400" b="1" dirty="0"/>
              <a:t>Usuarios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Pacientes, doctores y </a:t>
            </a:r>
            <a:r>
              <a:rPr lang="es-MX" sz="2400" dirty="0" err="1"/>
              <a:t>admins</a:t>
            </a:r>
            <a:r>
              <a:rPr lang="es-MX" sz="2400" dirty="0"/>
              <a:t> con funcionalidades mínimas garantizadas.</a:t>
            </a:r>
          </a:p>
        </p:txBody>
      </p:sp>
    </p:spTree>
    <p:extLst>
      <p:ext uri="{BB962C8B-B14F-4D97-AF65-F5344CB8AC3E}">
        <p14:creationId xmlns:p14="http://schemas.microsoft.com/office/powerpoint/2010/main" val="14494272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3EBC74-7880-471F-058A-33B0D6B70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6F60402A-1BAF-1269-113B-7AEC05D6696C}"/>
              </a:ext>
            </a:extLst>
          </p:cNvPr>
          <p:cNvSpPr txBox="1"/>
          <p:nvPr/>
        </p:nvSpPr>
        <p:spPr>
          <a:xfrm>
            <a:off x="719665" y="543468"/>
            <a:ext cx="74506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b="1" dirty="0"/>
              <a:t>Métricas de Monitoreo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1C637DA-5BB4-6229-3200-485151603A80}"/>
              </a:ext>
            </a:extLst>
          </p:cNvPr>
          <p:cNvSpPr txBox="1"/>
          <p:nvPr/>
        </p:nvSpPr>
        <p:spPr>
          <a:xfrm>
            <a:off x="719665" y="1351508"/>
            <a:ext cx="10752667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/>
              <a:t>Disponibilidad</a:t>
            </a:r>
          </a:p>
          <a:p>
            <a:r>
              <a:rPr lang="es-MX" sz="2400" dirty="0"/>
              <a:t>Cheques cada 30 s</a:t>
            </a:r>
          </a:p>
          <a:p>
            <a:endParaRPr lang="es-MX" sz="2400" dirty="0"/>
          </a:p>
          <a:p>
            <a:r>
              <a:rPr lang="es-MX" sz="2400" b="1" dirty="0"/>
              <a:t>Rendimiento</a:t>
            </a:r>
          </a:p>
          <a:p>
            <a:r>
              <a:rPr lang="es-MX" sz="2400" dirty="0"/>
              <a:t>Latencia p50/p95/p99</a:t>
            </a:r>
          </a:p>
          <a:p>
            <a:r>
              <a:rPr lang="es-MX" sz="2400" dirty="0"/>
              <a:t>Rendimiento en horas pico</a:t>
            </a:r>
          </a:p>
          <a:p>
            <a:endParaRPr lang="es-MX" sz="2400" dirty="0"/>
          </a:p>
          <a:p>
            <a:r>
              <a:rPr lang="es-MX" sz="2400" b="1" dirty="0"/>
              <a:t>Seguridad</a:t>
            </a:r>
          </a:p>
          <a:p>
            <a:r>
              <a:rPr lang="es-MX" sz="2400" dirty="0"/>
              <a:t>Accesos no autorizados = 0 tolerados</a:t>
            </a:r>
          </a:p>
          <a:p>
            <a:r>
              <a:rPr lang="es-MX" sz="2400" dirty="0"/>
              <a:t>Copias de seguridad diarias obligatorias</a:t>
            </a:r>
          </a:p>
          <a:p>
            <a:endParaRPr lang="es-MX" sz="2400" dirty="0"/>
          </a:p>
          <a:p>
            <a:r>
              <a:rPr lang="es-MX" sz="2400" b="1" dirty="0"/>
              <a:t>Infraestructura</a:t>
            </a:r>
          </a:p>
          <a:p>
            <a:r>
              <a:rPr lang="es-MX" sz="2400" dirty="0"/>
              <a:t>CPU/RAM &lt; 75% sostenido</a:t>
            </a:r>
          </a:p>
        </p:txBody>
      </p:sp>
    </p:spTree>
    <p:extLst>
      <p:ext uri="{BB962C8B-B14F-4D97-AF65-F5344CB8AC3E}">
        <p14:creationId xmlns:p14="http://schemas.microsoft.com/office/powerpoint/2010/main" val="9597898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3060D4-9D89-3409-6AC1-F40E0802D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3725CA6-6DE2-1582-A6EE-6D4082C52DAB}"/>
              </a:ext>
            </a:extLst>
          </p:cNvPr>
          <p:cNvSpPr txBox="1"/>
          <p:nvPr/>
        </p:nvSpPr>
        <p:spPr>
          <a:xfrm>
            <a:off x="719665" y="543468"/>
            <a:ext cx="74506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b="1" dirty="0"/>
              <a:t>Estrategia de </a:t>
            </a:r>
            <a:r>
              <a:rPr lang="es-MX" sz="3200" b="1" dirty="0" err="1"/>
              <a:t>Versionamiento</a:t>
            </a:r>
            <a:endParaRPr lang="es-MX" sz="3200" b="1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1749809-8B9B-335E-E8F2-BB52442281EB}"/>
              </a:ext>
            </a:extLst>
          </p:cNvPr>
          <p:cNvSpPr txBox="1"/>
          <p:nvPr/>
        </p:nvSpPr>
        <p:spPr>
          <a:xfrm>
            <a:off x="719665" y="1351508"/>
            <a:ext cx="1075266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/>
              <a:t>Flujo: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Característica de Rama/*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Compromisos descriptivos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Solicitud de extracción hacia el desarrollo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Revisión de código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Integración a </a:t>
            </a:r>
            <a:r>
              <a:rPr lang="es-MX" sz="2400" dirty="0" err="1"/>
              <a:t>main</a:t>
            </a:r>
            <a:endParaRPr lang="es-MX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Pipeline automático antes de desplegar</a:t>
            </a:r>
          </a:p>
          <a:p>
            <a:endParaRPr lang="es-MX" sz="2400" dirty="0"/>
          </a:p>
          <a:p>
            <a:r>
              <a:rPr lang="es-MX" sz="2400" b="1" dirty="0"/>
              <a:t>Despliegue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API en </a:t>
            </a:r>
            <a:r>
              <a:rPr lang="es-MX" sz="2400" dirty="0" err="1"/>
              <a:t>Uvicorn</a:t>
            </a:r>
            <a:r>
              <a:rPr lang="es-MX" sz="2400" dirty="0"/>
              <a:t> + </a:t>
            </a:r>
            <a:r>
              <a:rPr lang="es-MX" sz="2400" dirty="0" err="1"/>
              <a:t>Gunicorn</a:t>
            </a:r>
            <a:endParaRPr lang="es-MX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 err="1"/>
              <a:t>Frontend</a:t>
            </a:r>
            <a:r>
              <a:rPr lang="es-MX" sz="2400" dirty="0"/>
              <a:t> en </a:t>
            </a:r>
            <a:r>
              <a:rPr lang="es-MX" sz="2400" dirty="0" err="1"/>
              <a:t>Vercel</a:t>
            </a:r>
            <a:r>
              <a:rPr lang="es-MX" sz="2400" dirty="0"/>
              <a:t>/</a:t>
            </a:r>
            <a:r>
              <a:rPr lang="es-MX" sz="2400" dirty="0" err="1"/>
              <a:t>Netlify</a:t>
            </a:r>
            <a:endParaRPr lang="es-MX" sz="2400" dirty="0"/>
          </a:p>
        </p:txBody>
      </p:sp>
    </p:spTree>
    <p:extLst>
      <p:ext uri="{BB962C8B-B14F-4D97-AF65-F5344CB8AC3E}">
        <p14:creationId xmlns:p14="http://schemas.microsoft.com/office/powerpoint/2010/main" val="37262889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F847E7-04AB-9AC9-80BF-2979B8183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A1A78B8-C812-0407-8FA1-375DFD5D3149}"/>
              </a:ext>
            </a:extLst>
          </p:cNvPr>
          <p:cNvSpPr txBox="1"/>
          <p:nvPr/>
        </p:nvSpPr>
        <p:spPr>
          <a:xfrm>
            <a:off x="719665" y="543468"/>
            <a:ext cx="74506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b="1" dirty="0"/>
              <a:t>Conclusiones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1BBC936-41F8-E121-DFEC-0D93D9967C07}"/>
              </a:ext>
            </a:extLst>
          </p:cNvPr>
          <p:cNvSpPr txBox="1"/>
          <p:nvPr/>
        </p:nvSpPr>
        <p:spPr>
          <a:xfrm>
            <a:off x="719666" y="2090172"/>
            <a:ext cx="1075266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 err="1"/>
              <a:t>MedikOS</a:t>
            </a:r>
            <a:r>
              <a:rPr lang="es-MX" sz="2400" dirty="0"/>
              <a:t> es viable técnica y económicamente.</a:t>
            </a:r>
          </a:p>
          <a:p>
            <a:endParaRPr lang="es-MX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Garantiza seguridad, estabilidad y calidad en servicios médicos digitales.</a:t>
            </a:r>
          </a:p>
          <a:p>
            <a:endParaRPr lang="es-MX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Está respaldado por prácticas profesionales de DevOps y control de calidad.</a:t>
            </a:r>
          </a:p>
          <a:p>
            <a:endParaRPr lang="es-MX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Su modelo SaaS lo vuelve sostenible y escalable a largo plazo.</a:t>
            </a:r>
          </a:p>
        </p:txBody>
      </p:sp>
    </p:spTree>
    <p:extLst>
      <p:ext uri="{BB962C8B-B14F-4D97-AF65-F5344CB8AC3E}">
        <p14:creationId xmlns:p14="http://schemas.microsoft.com/office/powerpoint/2010/main" val="10940571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689</Words>
  <Application>Microsoft Office PowerPoint</Application>
  <PresentationFormat>Panorámica</PresentationFormat>
  <Paragraphs>169</Paragraphs>
  <Slides>17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Carolina Reyes</dc:creator>
  <cp:lastModifiedBy>Carolina Reyes</cp:lastModifiedBy>
  <cp:revision>1</cp:revision>
  <dcterms:created xsi:type="dcterms:W3CDTF">2025-12-12T13:34:25Z</dcterms:created>
  <dcterms:modified xsi:type="dcterms:W3CDTF">2025-12-12T13:52:22Z</dcterms:modified>
</cp:coreProperties>
</file>